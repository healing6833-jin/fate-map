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34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훼이맵의 브랜드 슬로건과 10회기 프로그램을 소개하는 표지입니다. 고급스럽고 차분한 이미지를 통해 첫인상을 구축합니다. SNS 자막: '진정한 나를 만나는 시간, FateMap 10주 여정 시작.'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브랜드가 지향하는 가치를 전달합니다. '치료'가 아닌 '라이프스타일 큐레이션'임을 명시하여 의료법 리스크를 방어하면서도 프리미엄 이미지를 강조합니다. SNS 자막: '바쁜 일상 속 나를 잃어버렸다면, 훼이맵과 함께 균형을 찾아보세요.'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디렉터의 전문 분야를 나열하여 전문성을 강조하되, 의료 전문 용어보다는 '통찰', '가이드', '큐레이팅'과 같은 단어를 사용하여 리스크를 관리합니다. SNS 자막: '검증된 전문성으로 설계된 프리미엄 웰니스 케어.'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타겟 고객인 VIP와 고스트레스군이 공감할 수 있는 감성 카피를 배치합니다. '번아웃 care'를 '회복의 힘'으로 완화하여 표현합니다. SNS 자막: '지친 당신을 위한 단 하나의 럭셔리, 훼이맵 웰니스.'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10회기 프로그램을 4개 페이즈로 나누어 시각적으로 정리합니다. 각 단계가 유기적으로 연결되어 '회복'을 완성함을 보여줍니다. SNS 자막: '체계적으로 설계된 10주의 변화, FateMap 10 Sessions.'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1단계 심리 탐색 과정입니다. '심리 진단' 대신 '무의식의 대화', '마인드 체크'를 사용하여 전문적이면서도 안전한 홍보 문구로 구성했습니다. SNS 자막: '향기가 들려주는 나의 내면 이야기, Inner Resonance.'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 맞춤형 케어 단계입니다. '처방'이 아닌 '레시피', '큐레이션' 표현을 사용합니다. SNS 자막: '나보다 나를 더 잘 아는 웰니스 케어, Custom Synergy.'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 테라피 과정입니다. '치료/개선' 대신 '이완/휴식/집중' 키워드를 사용하여 감성적으로 접근합니다. SNS 자막: '방해받지 않는 깊은 휴식, Deep Restoration.'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유지관리 및 비즈니스 확장성을 설명합니다. 단순한 1회성 체험이 아닌 라이프스타일의 변화를 약속합니다. SNS 자막: '프로그램 수료 후에도 이어지는 훼이맵의 프리미엄 케어.'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장입니다. 예약 안내와 함께 법적 안전 고지 문구를 명확히 기재하여 과장 광고 및 의료 오인 리스크를 방지합니다. SNS 자막: '훼이맵 예약 문의 및 더 알아보기.'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DED6CD"/>
          </a:solidFill>
          <a:ln/>
        </p:spPr>
      </p:sp>
      <p:sp>
        <p:nvSpPr>
          <p:cNvPr id="4" name="Shape 2"/>
          <p:cNvSpPr/>
          <p:nvPr/>
        </p:nvSpPr>
        <p:spPr>
          <a:xfrm>
            <a:off x="9334500" y="4000500"/>
            <a:ext cx="3810000" cy="3810000"/>
          </a:xfrm>
          <a:prstGeom prst="ellipse">
            <a:avLst/>
          </a:prstGeom>
          <a:solidFill>
            <a:srgbClr val="EBE6DF"/>
          </a:solidFill>
          <a:ln/>
        </p:spPr>
      </p:sp>
      <p:sp>
        <p:nvSpPr>
          <p:cNvPr id="5" name="Text 3"/>
          <p:cNvSpPr/>
          <p:nvPr/>
        </p:nvSpPr>
        <p:spPr>
          <a:xfrm>
            <a:off x="4399597" y="409575"/>
            <a:ext cx="3713797" cy="361951"/>
          </a:xfrm>
          <a:prstGeom prst="roundRect">
            <a:avLst>
              <a:gd name="adj" fmla="val 42105"/>
            </a:avLst>
          </a:prstGeom>
          <a:solidFill>
            <a:srgbClr val="E8E2D9"/>
          </a:solidFill>
          <a:ln w="7144">
            <a:solidFill>
              <a:srgbClr val="D6CEC3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PREMIUM WELLNESS PROGRAM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152525"/>
            <a:ext cx="3048000" cy="1905000"/>
          </a:xfrm>
          <a:prstGeom prst="roundRect">
            <a:avLst>
              <a:gd name="adj" fmla="val 32000"/>
            </a:avLst>
          </a:prstGeom>
          <a:ln/>
          <a:effectLst>
            <a:outerShdw blurRad="214313" dist="71438" dir="5400000" algn="bl" rotWithShape="0">
              <a:srgbClr val="3D3530">
                <a:alpha val="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52525"/>
            <a:ext cx="3048000" cy="1905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0560" y="3514725"/>
            <a:ext cx="11917680" cy="7620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ctr">
              <a:lnSpc>
                <a:spcPts val="6000"/>
              </a:lnSpc>
              <a:spcAft>
                <a:spcPts val="600"/>
              </a:spcAft>
              <a:buNone/>
            </a:pPr>
            <a:r>
              <a:rPr lang="en-US" sz="5333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FateMap: Finding Life's Path</a:t>
            </a:r>
            <a:endParaRPr lang="en-US" sz="5333" dirty="0"/>
          </a:p>
        </p:txBody>
      </p:sp>
      <p:sp>
        <p:nvSpPr>
          <p:cNvPr id="9" name="Text 6"/>
          <p:cNvSpPr/>
          <p:nvPr/>
        </p:nvSpPr>
        <p:spPr>
          <a:xfrm>
            <a:off x="670560" y="4352925"/>
            <a:ext cx="11917680" cy="4572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ctr">
              <a:lnSpc>
                <a:spcPts val="3600"/>
              </a:lnSpc>
              <a:spcAft>
                <a:spcPts val="4200"/>
              </a:spcAft>
              <a:buNone/>
            </a:pPr>
            <a:r>
              <a:rPr lang="en-US" sz="24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멈춰있던 당신의 시간을 깨우는 웰니스 여정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951797" y="5343525"/>
            <a:ext cx="3116580" cy="533400"/>
          </a:xfrm>
          <a:prstGeom prst="rect">
            <a:avLst/>
          </a:prstGeom>
          <a:ln/>
        </p:spPr>
        <p:txBody>
          <a:bodyPr wrap="square" lIns="91440" tIns="0" rIns="9144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933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CURRICULUM</a:t>
            </a:r>
            <a:r>
              <a:rPr lang="en-US" sz="1200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33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훼이맵 10회기 프리미엄 과정</a:t>
            </a:r>
            <a:endParaRPr lang="en-US" sz="933" dirty="0"/>
          </a:p>
        </p:txBody>
      </p:sp>
      <p:sp>
        <p:nvSpPr>
          <p:cNvPr id="11" name="Shape 8"/>
          <p:cNvSpPr/>
          <p:nvPr/>
        </p:nvSpPr>
        <p:spPr>
          <a:xfrm>
            <a:off x="6091237" y="5486400"/>
            <a:ext cx="9525" cy="381000"/>
          </a:xfrm>
          <a:prstGeom prst="rect">
            <a:avLst/>
          </a:prstGeom>
          <a:solidFill>
            <a:srgbClr val="DED6CD"/>
          </a:solidFill>
          <a:ln/>
        </p:spPr>
      </p:sp>
      <p:sp>
        <p:nvSpPr>
          <p:cNvPr id="12" name="Text 9"/>
          <p:cNvSpPr/>
          <p:nvPr/>
        </p:nvSpPr>
        <p:spPr>
          <a:xfrm>
            <a:off x="6390323" y="5343525"/>
            <a:ext cx="3116580" cy="533400"/>
          </a:xfrm>
          <a:prstGeom prst="rect">
            <a:avLst/>
          </a:prstGeom>
          <a:ln/>
        </p:spPr>
        <p:txBody>
          <a:bodyPr wrap="square" lIns="91440" tIns="0" rIns="9144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933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</a:t>
            </a:r>
            <a:r>
              <a:rPr lang="en-US" sz="1200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33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삶의 지도를 다시 그리는 시간</a:t>
            </a:r>
            <a:endParaRPr lang="en-US" sz="933" dirty="0"/>
          </a:p>
        </p:txBody>
      </p:sp>
      <p:sp>
        <p:nvSpPr>
          <p:cNvPr id="13" name="Shape 10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ln/>
        </p:spPr>
      </p:sp>
      <p:sp>
        <p:nvSpPr>
          <p:cNvPr id="14" name="Text 11"/>
          <p:cNvSpPr/>
          <p:nvPr/>
        </p:nvSpPr>
        <p:spPr>
          <a:xfrm>
            <a:off x="670560" y="6386512"/>
            <a:ext cx="2215513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PREMIUM WELLNESS SERVICE</a:t>
            </a:r>
            <a:endParaRPr lang="en-US" sz="933" dirty="0"/>
          </a:p>
        </p:txBody>
      </p:sp>
      <p:sp>
        <p:nvSpPr>
          <p:cNvPr id="15" name="Shape 12"/>
          <p:cNvSpPr/>
          <p:nvPr/>
        </p:nvSpPr>
        <p:spPr>
          <a:xfrm>
            <a:off x="2724151" y="6462712"/>
            <a:ext cx="38100" cy="38100"/>
          </a:xfrm>
          <a:prstGeom prst="ellipse">
            <a:avLst/>
          </a:prstGeom>
          <a:solidFill>
            <a:srgbClr val="8A7A6A"/>
          </a:solidFill>
          <a:ln/>
        </p:spPr>
      </p:sp>
      <p:sp>
        <p:nvSpPr>
          <p:cNvPr id="16" name="Text 13"/>
          <p:cNvSpPr/>
          <p:nvPr/>
        </p:nvSpPr>
        <p:spPr>
          <a:xfrm>
            <a:off x="2785111" y="6386512"/>
            <a:ext cx="937260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2026.06.16</a:t>
            </a:r>
            <a:endParaRPr lang="en-US" sz="933" dirty="0"/>
          </a:p>
        </p:txBody>
      </p:sp>
      <p:sp>
        <p:nvSpPr>
          <p:cNvPr id="17" name="Text 14"/>
          <p:cNvSpPr/>
          <p:nvPr/>
        </p:nvSpPr>
        <p:spPr>
          <a:xfrm>
            <a:off x="8814435" y="6386512"/>
            <a:ext cx="2959417" cy="1905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933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FateMap TV</a:t>
            </a:r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933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@fatemap_official</a:t>
            </a:r>
            <a:endParaRPr lang="en-US" sz="933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/>
          <p:nvPr/>
        </p:nvSpPr>
        <p:spPr>
          <a:xfrm>
            <a:off x="11443335" y="6315075"/>
            <a:ext cx="277177" cy="16192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33" dirty="0"/>
          </a:p>
        </p:txBody>
      </p:sp>
      <p:sp>
        <p:nvSpPr>
          <p:cNvPr id="4" name="Shape 2"/>
          <p:cNvSpPr/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DEDAD4"/>
          </a:solidFill>
          <a:ln/>
        </p:spPr>
      </p:sp>
      <p:sp>
        <p:nvSpPr>
          <p:cNvPr id="5" name="Text 3"/>
          <p:cNvSpPr/>
          <p:nvPr/>
        </p:nvSpPr>
        <p:spPr>
          <a:xfrm>
            <a:off x="1242060" y="1276351"/>
            <a:ext cx="5212080" cy="6858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540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Art of Balance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42060" y="2038351"/>
            <a:ext cx="5212080" cy="571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4500"/>
              </a:lnSpc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조화로운 삶의 기술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333500" y="2990851"/>
            <a:ext cx="571500" cy="38100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8" name="Text 6"/>
          <p:cNvSpPr/>
          <p:nvPr/>
        </p:nvSpPr>
        <p:spPr>
          <a:xfrm>
            <a:off x="1242060" y="3409949"/>
            <a:ext cx="5212080" cy="1028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1467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진정한 웰니스는 내면의 소리를 듣는 것에서 시작됩니다. 복잡한 일상 속, 나만의 중심을 찾는 훼이맵의 철학을 경험해 보세요.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1242060" y="4667251"/>
            <a:ext cx="5212080" cy="685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1467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 관리가 아닌, 삶의 질을 높이는</a:t>
            </a:r>
            <a:endParaRPr lang="en-US" sz="1467" dirty="0"/>
          </a:p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1467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감각의 균형을 지향합니다.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858000" y="1066800"/>
            <a:ext cx="4572000" cy="1733551"/>
          </a:xfrm>
          <a:prstGeom prst="roundRect">
            <a:avLst>
              <a:gd name="adj" fmla="val 6183"/>
            </a:avLst>
          </a:prstGeom>
          <a:solidFill>
            <a:srgbClr val="FAF9F6"/>
          </a:solidFill>
          <a:ln w="7144">
            <a:solidFill>
              <a:srgbClr val="E8E4DF"/>
            </a:solidFill>
            <a:prstDash val="solid"/>
          </a:ln>
          <a:effectLst>
            <a:outerShdw blurRad="142875" dist="28575" dir="5400000" algn="bl" rotWithShape="0">
              <a:srgbClr val="3D3530">
                <a:alpha val="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67525" y="1076325"/>
            <a:ext cx="4552949" cy="38100"/>
          </a:xfrm>
          <a:prstGeom prst="roundRect">
            <a:avLst>
              <a:gd name="adj" fmla="val 400000"/>
            </a:avLst>
          </a:prstGeom>
          <a:solidFill>
            <a:srgbClr val="8A7A6A"/>
          </a:solidFill>
          <a:ln/>
        </p:spPr>
      </p:sp>
      <p:sp>
        <p:nvSpPr>
          <p:cNvPr id="12" name="Shape 10"/>
          <p:cNvSpPr/>
          <p:nvPr/>
        </p:nvSpPr>
        <p:spPr>
          <a:xfrm>
            <a:off x="7172325" y="1381125"/>
            <a:ext cx="419100" cy="419100"/>
          </a:xfrm>
          <a:prstGeom prst="roundRect">
            <a:avLst>
              <a:gd name="adj" fmla="val 16529"/>
            </a:avLst>
          </a:prstGeom>
          <a:solidFill>
            <a:srgbClr val="E8E4DF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151" y="1504951"/>
            <a:ext cx="171451" cy="17145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52385" y="1438275"/>
            <a:ext cx="3891916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라이프스타일 큐레이션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80885" y="1952625"/>
            <a:ext cx="4520566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5C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의료적 처방을 넘어선 개인화된 제안으로 당신의 일상에 최적화된 밸런스를 제공합니다.</a:t>
            </a:r>
            <a:endParaRPr lang="en-US" sz="1333" dirty="0"/>
          </a:p>
        </p:txBody>
      </p:sp>
      <p:sp>
        <p:nvSpPr>
          <p:cNvPr id="16" name="Shape 13"/>
          <p:cNvSpPr/>
          <p:nvPr/>
        </p:nvSpPr>
        <p:spPr>
          <a:xfrm>
            <a:off x="6858000" y="3028949"/>
            <a:ext cx="4572000" cy="1733551"/>
          </a:xfrm>
          <a:prstGeom prst="roundRect">
            <a:avLst>
              <a:gd name="adj" fmla="val 6183"/>
            </a:avLst>
          </a:prstGeom>
          <a:solidFill>
            <a:srgbClr val="FAF9F6"/>
          </a:solidFill>
          <a:ln w="7144">
            <a:solidFill>
              <a:srgbClr val="E8E4DF"/>
            </a:solidFill>
            <a:prstDash val="solid"/>
          </a:ln>
          <a:effectLst>
            <a:outerShdw blurRad="142875" dist="28575" dir="5400000" algn="bl" rotWithShape="0">
              <a:srgbClr val="3D3530">
                <a:alpha val="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67525" y="3038475"/>
            <a:ext cx="4552949" cy="38100"/>
          </a:xfrm>
          <a:prstGeom prst="roundRect">
            <a:avLst>
              <a:gd name="adj" fmla="val 400000"/>
            </a:avLst>
          </a:prstGeom>
          <a:solidFill>
            <a:srgbClr val="3D3530"/>
          </a:solidFill>
          <a:ln/>
        </p:spPr>
      </p:sp>
      <p:sp>
        <p:nvSpPr>
          <p:cNvPr id="18" name="Shape 15"/>
          <p:cNvSpPr/>
          <p:nvPr/>
        </p:nvSpPr>
        <p:spPr>
          <a:xfrm>
            <a:off x="7172325" y="3343275"/>
            <a:ext cx="419100" cy="419100"/>
          </a:xfrm>
          <a:prstGeom prst="roundRect">
            <a:avLst>
              <a:gd name="adj" fmla="val 16529"/>
            </a:avLst>
          </a:prstGeom>
          <a:solidFill>
            <a:srgbClr val="E8E4D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151" y="3467100"/>
            <a:ext cx="171451" cy="17145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652385" y="3400425"/>
            <a:ext cx="3891916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셀프 케어 리추얼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080885" y="3914775"/>
            <a:ext cx="4520566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5C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당신의 삶에 가장 필요한 건,</a:t>
            </a:r>
            <a:endParaRPr lang="en-US" sz="1333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5C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 당신 자신을 돌보는 일입니다.</a:t>
            </a:r>
            <a:endParaRPr lang="en-US" sz="1333" dirty="0"/>
          </a:p>
        </p:txBody>
      </p:sp>
      <p:sp>
        <p:nvSpPr>
          <p:cNvPr id="22" name="Shape 18"/>
          <p:cNvSpPr/>
          <p:nvPr/>
        </p:nvSpPr>
        <p:spPr>
          <a:xfrm>
            <a:off x="6858000" y="5334000"/>
            <a:ext cx="4572000" cy="457200"/>
          </a:xfrm>
          <a:prstGeom prst="roundRect">
            <a:avLst>
              <a:gd name="adj" fmla="val 33333"/>
            </a:avLst>
          </a:prstGeom>
          <a:solidFill>
            <a:srgbClr val="3D3530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5486400"/>
            <a:ext cx="171451" cy="1524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280911" y="5448300"/>
            <a:ext cx="4394836" cy="2286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4F1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Faymap Official Ritual Guide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4" name="Text 2"/>
          <p:cNvSpPr/>
          <p:nvPr/>
        </p:nvSpPr>
        <p:spPr>
          <a:xfrm>
            <a:off x="670560" y="571500"/>
            <a:ext cx="6469380" cy="1905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1800"/>
              </a:spcAft>
              <a:buNone/>
            </a:pPr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PHILOSOPHY &amp; SERVICE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0560" y="990600"/>
            <a:ext cx="6469380" cy="7239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5700"/>
              </a:lnSpc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Expertise &amp; Empathy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571500" cy="28575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7" name="Text 5"/>
          <p:cNvSpPr/>
          <p:nvPr/>
        </p:nvSpPr>
        <p:spPr>
          <a:xfrm>
            <a:off x="670560" y="2505075"/>
            <a:ext cx="6259830" cy="685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과학적 기반과 감성이 결합된 웰니스 큐레이팅으로 차별화된 신뢰를 더합니다.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419475"/>
            <a:ext cx="5524500" cy="1905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2000" y="5648325"/>
            <a:ext cx="2476500" cy="533400"/>
          </a:xfrm>
          <a:prstGeom prst="roundRect">
            <a:avLst>
              <a:gd name="adj" fmla="val 28571"/>
            </a:avLst>
          </a:prstGeom>
          <a:solidFill>
            <a:srgbClr val="3D353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5838825"/>
            <a:ext cx="171451" cy="152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7760" y="5743575"/>
            <a:ext cx="2194560" cy="3429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200" dirty="0">
                <a:solidFill>
                  <a:srgbClr val="F4F1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전문가의 통찰과 따뜻한 공감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858000" y="571500"/>
            <a:ext cx="4572000" cy="1619251"/>
          </a:xfrm>
          <a:prstGeom prst="roundRect">
            <a:avLst>
              <a:gd name="adj" fmla="val 7087"/>
            </a:avLst>
          </a:prstGeom>
          <a:solidFill>
            <a:srgbClr val="FCFAF7"/>
          </a:solidFill>
          <a:ln w="7144">
            <a:solidFill>
              <a:srgbClr val="E8E3DB"/>
            </a:solidFill>
            <a:prstDash val="solid"/>
          </a:ln>
          <a:effectLst>
            <a:outerShdw blurRad="214313" dist="71438" dir="5400000" algn="bl" rotWithShape="0">
              <a:srgbClr val="3D3530">
                <a:alpha val="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867525" y="581025"/>
            <a:ext cx="4552949" cy="38100"/>
          </a:xfrm>
          <a:prstGeom prst="roundRect">
            <a:avLst>
              <a:gd name="adj" fmla="val 400000"/>
            </a:avLst>
          </a:prstGeom>
          <a:solidFill>
            <a:srgbClr val="8A7A6A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4225" y="847725"/>
            <a:ext cx="419100" cy="419100"/>
          </a:xfrm>
          <a:prstGeom prst="roundRect">
            <a:avLst>
              <a:gd name="adj" fmla="val 16529"/>
            </a:avLst>
          </a:prstGeom>
          <a:solidFill>
            <a:srgbClr val="E8E3D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8051" y="971551"/>
            <a:ext cx="171451" cy="1714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14285" y="904875"/>
            <a:ext cx="3975736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치유학 &amp; 심리상담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042785" y="1381125"/>
            <a:ext cx="4604386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마음의 결을 읽는 세심한 가이드로</a:t>
            </a:r>
            <a:endParaRPr lang="en-US" sz="1333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진정한 내면의 휴식을 제안합니다.</a:t>
            </a:r>
            <a:endParaRPr lang="en-US" sz="1333" dirty="0"/>
          </a:p>
        </p:txBody>
      </p:sp>
      <p:sp>
        <p:nvSpPr>
          <p:cNvPr id="18" name="Shape 13"/>
          <p:cNvSpPr/>
          <p:nvPr/>
        </p:nvSpPr>
        <p:spPr>
          <a:xfrm>
            <a:off x="6858000" y="2419351"/>
            <a:ext cx="4572000" cy="1619251"/>
          </a:xfrm>
          <a:prstGeom prst="roundRect">
            <a:avLst>
              <a:gd name="adj" fmla="val 7087"/>
            </a:avLst>
          </a:prstGeom>
          <a:solidFill>
            <a:srgbClr val="FCFAF7"/>
          </a:solidFill>
          <a:ln w="7144">
            <a:solidFill>
              <a:srgbClr val="E8E3DB"/>
            </a:solidFill>
            <a:prstDash val="solid"/>
          </a:ln>
          <a:effectLst>
            <a:outerShdw blurRad="214313" dist="71438" dir="5400000" algn="bl" rotWithShape="0">
              <a:srgbClr val="3D3530">
                <a:alpha val="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867525" y="2428875"/>
            <a:ext cx="4552949" cy="38100"/>
          </a:xfrm>
          <a:prstGeom prst="roundRect">
            <a:avLst>
              <a:gd name="adj" fmla="val 400000"/>
            </a:avLst>
          </a:prstGeom>
          <a:solidFill>
            <a:srgbClr val="8A7A6A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4225" y="2695575"/>
            <a:ext cx="419100" cy="419100"/>
          </a:xfrm>
          <a:prstGeom prst="roundRect">
            <a:avLst>
              <a:gd name="adj" fmla="val 16529"/>
            </a:avLst>
          </a:prstGeom>
          <a:solidFill>
            <a:srgbClr val="E8E3D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4237" y="2819400"/>
            <a:ext cx="219075" cy="1714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4285" y="2752725"/>
            <a:ext cx="3975736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맞춤형 전문성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042785" y="3228975"/>
            <a:ext cx="4604386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아로마테라피와 개인화된 솔루션으로</a:t>
            </a:r>
            <a:endParaRPr lang="en-US" sz="1333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감각을 일깨우는 섬세한 터치.</a:t>
            </a:r>
            <a:endParaRPr lang="en-US" sz="1333" dirty="0"/>
          </a:p>
        </p:txBody>
      </p:sp>
      <p:sp>
        <p:nvSpPr>
          <p:cNvPr id="24" name="Shape 18"/>
          <p:cNvSpPr/>
          <p:nvPr/>
        </p:nvSpPr>
        <p:spPr>
          <a:xfrm>
            <a:off x="6858000" y="5486400"/>
            <a:ext cx="4572000" cy="800100"/>
          </a:xfrm>
          <a:prstGeom prst="rect">
            <a:avLst/>
          </a:prstGeom>
          <a:ln/>
        </p:spPr>
      </p:sp>
      <p:sp>
        <p:nvSpPr>
          <p:cNvPr id="25" name="Text 19"/>
          <p:cNvSpPr/>
          <p:nvPr/>
        </p:nvSpPr>
        <p:spPr>
          <a:xfrm>
            <a:off x="6966585" y="5676900"/>
            <a:ext cx="4782502" cy="4191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651"/>
              </a:lnSpc>
              <a:buNone/>
            </a:pPr>
            <a:r>
              <a:rPr lang="en-US" sz="1067" i="1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"차원이 다른 힐링은 사소한</a:t>
            </a:r>
            <a:endParaRPr lang="en-US" sz="1067" dirty="0"/>
          </a:p>
          <a:p>
            <a:pPr marL="0" indent="0" algn="l">
              <a:lnSpc>
                <a:spcPts val="1651"/>
              </a:lnSpc>
              <a:buNone/>
            </a:pPr>
            <a:r>
              <a:rPr lang="en-US" sz="1067" i="1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배려와 깊은 이해에서 시작됩니다."</a:t>
            </a:r>
            <a:endParaRPr lang="en-US" sz="1067" dirty="0"/>
          </a:p>
        </p:txBody>
      </p:sp>
      <p:sp>
        <p:nvSpPr>
          <p:cNvPr id="26" name="Text 20"/>
          <p:cNvSpPr/>
          <p:nvPr/>
        </p:nvSpPr>
        <p:spPr>
          <a:xfrm>
            <a:off x="11443335" y="6315075"/>
            <a:ext cx="277177" cy="16192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A39B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33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5486400"/>
            <a:ext cx="45720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Shape 1"/>
          <p:cNvSpPr/>
          <p:nvPr/>
        </p:nvSpPr>
        <p:spPr>
          <a:xfrm>
            <a:off x="4000500" y="1333500"/>
            <a:ext cx="4191000" cy="4191000"/>
          </a:xfrm>
          <a:prstGeom prst="ellipse">
            <a:avLst/>
          </a:prstGeom>
          <a:solidFill>
            <a:srgbClr val="EBE8E2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381000"/>
            <a:ext cx="11430000" cy="6096000"/>
          </a:xfrm>
          <a:prstGeom prst="rect">
            <a:avLst/>
          </a:prstGeom>
          <a:ln w="7144">
            <a:solidFill>
              <a:srgbClr val="E8E3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2060" y="452437"/>
            <a:ext cx="10660380" cy="1905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ctr">
              <a:spcAft>
                <a:spcPts val="1500"/>
              </a:spcAft>
              <a:buNone/>
            </a:pPr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MINDFUL MOMENT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42060" y="833437"/>
            <a:ext cx="10660380" cy="7620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ctr">
              <a:lnSpc>
                <a:spcPts val="6000"/>
              </a:lnSpc>
              <a:spcAft>
                <a:spcPts val="900"/>
              </a:spcAft>
              <a:buNone/>
            </a:pPr>
            <a:r>
              <a:rPr lang="en-US" sz="5333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Pause and Reset</a:t>
            </a:r>
            <a:endParaRPr lang="en-US" sz="5333" dirty="0"/>
          </a:p>
        </p:txBody>
      </p:sp>
      <p:sp>
        <p:nvSpPr>
          <p:cNvPr id="7" name="Text 5"/>
          <p:cNvSpPr/>
          <p:nvPr/>
        </p:nvSpPr>
        <p:spPr>
          <a:xfrm>
            <a:off x="1242060" y="1709737"/>
            <a:ext cx="10660380" cy="4381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ctr">
              <a:spcAft>
                <a:spcPts val="3751"/>
              </a:spcAft>
              <a:buNone/>
            </a:pPr>
            <a:r>
              <a:rPr lang="en-US" sz="24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무거운 책임감에 가려진 '나'를 발견하는 시간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091237" y="2624137"/>
            <a:ext cx="9525" cy="571500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9" name="Shape 7"/>
          <p:cNvSpPr/>
          <p:nvPr/>
        </p:nvSpPr>
        <p:spPr>
          <a:xfrm>
            <a:off x="4038600" y="3671888"/>
            <a:ext cx="495300" cy="495300"/>
          </a:xfrm>
          <a:prstGeom prst="roundRect">
            <a:avLst>
              <a:gd name="adj" fmla="val 14201"/>
            </a:avLst>
          </a:prstGeom>
          <a:solidFill>
            <a:srgbClr val="FAF9F6"/>
          </a:solidFill>
          <a:ln w="7144">
            <a:solidFill>
              <a:srgbClr val="E8E3D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3824288"/>
            <a:ext cx="190500" cy="1905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70811" y="4357688"/>
            <a:ext cx="3535680" cy="5715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ctr">
              <a:lnSpc>
                <a:spcPts val="2251"/>
              </a:lnSpc>
              <a:buNone/>
            </a:pPr>
            <a:r>
              <a:rPr lang="en-US" sz="1333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번아웃과 스트레스로 지친 현대인을 위한 도심 속 안식처</a:t>
            </a:r>
            <a:endParaRPr lang="en-US" sz="1333" dirty="0"/>
          </a:p>
        </p:txBody>
      </p:sp>
      <p:sp>
        <p:nvSpPr>
          <p:cNvPr id="12" name="Shape 9"/>
          <p:cNvSpPr/>
          <p:nvPr/>
        </p:nvSpPr>
        <p:spPr>
          <a:xfrm>
            <a:off x="7658100" y="3671888"/>
            <a:ext cx="495300" cy="495300"/>
          </a:xfrm>
          <a:prstGeom prst="roundRect">
            <a:avLst>
              <a:gd name="adj" fmla="val 14201"/>
            </a:avLst>
          </a:prstGeom>
          <a:solidFill>
            <a:srgbClr val="FAF9F6"/>
          </a:solidFill>
          <a:ln w="7144">
            <a:solidFill>
              <a:srgbClr val="E8E3D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312" y="3824288"/>
            <a:ext cx="142875" cy="1905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90309" y="4357688"/>
            <a:ext cx="3535680" cy="5715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ctr">
              <a:lnSpc>
                <a:spcPts val="2251"/>
              </a:lnSpc>
              <a:buNone/>
            </a:pPr>
            <a:r>
              <a:rPr lang="en-US" sz="1333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잠시 멈춤이 주는 위대한 회복의 힘을 경험해 보세요</a:t>
            </a:r>
            <a:endParaRPr lang="en-US" sz="1333" dirty="0"/>
          </a:p>
        </p:txBody>
      </p:sp>
      <p:sp>
        <p:nvSpPr>
          <p:cNvPr id="15" name="Shape 11"/>
          <p:cNvSpPr/>
          <p:nvPr/>
        </p:nvSpPr>
        <p:spPr>
          <a:xfrm>
            <a:off x="2000251" y="5500688"/>
            <a:ext cx="8191500" cy="904875"/>
          </a:xfrm>
          <a:prstGeom prst="roundRect">
            <a:avLst>
              <a:gd name="adj" fmla="val 5673"/>
            </a:avLst>
          </a:prstGeom>
          <a:solidFill>
            <a:srgbClr val="3D3530"/>
          </a:solidFill>
          <a:ln/>
          <a:effectLst>
            <a:outerShdw blurRad="214313" dist="85725" dir="5400000" algn="bl" rotWithShape="0">
              <a:srgbClr val="3D353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287429" y="5786437"/>
            <a:ext cx="2026920" cy="333375"/>
          </a:xfrm>
          <a:prstGeom prst="roundRect">
            <a:avLst>
              <a:gd name="adj" fmla="val 45714"/>
            </a:avLst>
          </a:prstGeom>
          <a:solidFill>
            <a:srgbClr val="F4F1EC"/>
          </a:solidFill>
          <a:ln/>
        </p:spPr>
        <p:txBody>
          <a:bodyPr wrap="none" lIns="91440" tIns="0" rIns="9144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3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YOUTUBE INSIGHT</a:t>
            </a:r>
            <a:endParaRPr lang="en-US" sz="933" dirty="0"/>
          </a:p>
        </p:txBody>
      </p:sp>
      <p:sp>
        <p:nvSpPr>
          <p:cNvPr id="17" name="Text 13"/>
          <p:cNvSpPr/>
          <p:nvPr/>
        </p:nvSpPr>
        <p:spPr>
          <a:xfrm>
            <a:off x="4187667" y="5800725"/>
            <a:ext cx="6270307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67" dirty="0">
                <a:solidFill>
                  <a:srgbClr val="F4F1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"번아웃은 당신의 잘못이 아닙니다. 지금은 잠시 숨을 고를 때입니다."</a:t>
            </a:r>
            <a:endParaRPr lang="en-US" sz="1467" dirty="0"/>
          </a:p>
        </p:txBody>
      </p:sp>
      <p:sp>
        <p:nvSpPr>
          <p:cNvPr id="18" name="Text 14"/>
          <p:cNvSpPr/>
          <p:nvPr/>
        </p:nvSpPr>
        <p:spPr>
          <a:xfrm>
            <a:off x="11443335" y="6315075"/>
            <a:ext cx="277177" cy="16192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A39B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952500"/>
            <a:ext cx="57151" cy="1143000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5" name="Text 2"/>
          <p:cNvSpPr/>
          <p:nvPr/>
        </p:nvSpPr>
        <p:spPr>
          <a:xfrm>
            <a:off x="670560" y="762000"/>
            <a:ext cx="11917680" cy="1905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 TO WELLNESS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0560" y="1066800"/>
            <a:ext cx="11917680" cy="6858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10-Session Journey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952500" y="2819400"/>
            <a:ext cx="10287000" cy="9525"/>
          </a:xfrm>
          <a:prstGeom prst="rect">
            <a:avLst/>
          </a:prstGeom>
          <a:solidFill>
            <a:srgbClr val="DEDAD4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5638800"/>
            <a:ext cx="3829051" cy="457200"/>
          </a:xfrm>
          <a:prstGeom prst="roundRect">
            <a:avLst>
              <a:gd name="adj" fmla="val 33333"/>
            </a:avLst>
          </a:prstGeom>
          <a:solidFill>
            <a:srgbClr val="3D353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5791200"/>
            <a:ext cx="171451" cy="152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3011" y="5753100"/>
            <a:ext cx="3493770" cy="2286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4F1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10주간 펼쳐지는 나를 찾는 여정, 훼이맵 로드맵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81549" y="5862637"/>
            <a:ext cx="6648451" cy="9525"/>
          </a:xfrm>
          <a:prstGeom prst="rect">
            <a:avLst/>
          </a:prstGeom>
          <a:solidFill>
            <a:srgbClr val="DEDAD4"/>
          </a:solidFill>
          <a:ln/>
        </p:spPr>
      </p:sp>
      <p:sp>
        <p:nvSpPr>
          <p:cNvPr id="12" name="Text 8"/>
          <p:cNvSpPr/>
          <p:nvPr/>
        </p:nvSpPr>
        <p:spPr>
          <a:xfrm>
            <a:off x="11262360" y="6315075"/>
            <a:ext cx="266700" cy="16192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A39B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33" dirty="0"/>
          </a:p>
        </p:txBody>
      </p:sp>
      <p:sp>
        <p:nvSpPr>
          <p:cNvPr id="13" name="Shape 9"/>
          <p:cNvSpPr/>
          <p:nvPr/>
        </p:nvSpPr>
        <p:spPr>
          <a:xfrm>
            <a:off x="762000" y="2705100"/>
            <a:ext cx="228600" cy="228600"/>
          </a:xfrm>
          <a:prstGeom prst="ellipse">
            <a:avLst/>
          </a:prstGeom>
          <a:solidFill>
            <a:srgbClr val="F4F1EC"/>
          </a:solidFill>
          <a:ln w="14288">
            <a:solidFill>
              <a:srgbClr val="8A7A6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0560" y="3238500"/>
            <a:ext cx="2907030" cy="1524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33" b="1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01</a:t>
            </a:r>
            <a:endParaRPr lang="en-US" sz="933" dirty="0"/>
          </a:p>
        </p:txBody>
      </p:sp>
      <p:sp>
        <p:nvSpPr>
          <p:cNvPr id="15" name="Text 11"/>
          <p:cNvSpPr/>
          <p:nvPr/>
        </p:nvSpPr>
        <p:spPr>
          <a:xfrm>
            <a:off x="670560" y="3467100"/>
            <a:ext cx="2907030" cy="6477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marL="0" indent="0" algn="l">
              <a:lnSpc>
                <a:spcPts val="2551"/>
              </a:lnSpc>
              <a:spcAft>
                <a:spcPts val="1200"/>
              </a:spcAft>
              <a:buNone/>
            </a:pPr>
            <a:r>
              <a:rPr lang="en-US" sz="1733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Inner Resonance</a:t>
            </a:r>
            <a:endParaRPr lang="en-US" sz="1733" dirty="0"/>
          </a:p>
        </p:txBody>
      </p:sp>
      <p:sp>
        <p:nvSpPr>
          <p:cNvPr id="16" name="Text 12"/>
          <p:cNvSpPr/>
          <p:nvPr/>
        </p:nvSpPr>
        <p:spPr>
          <a:xfrm>
            <a:off x="670560" y="4267200"/>
            <a:ext cx="2907030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마음의 향기와 에너지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밸런스 체크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492401" y="2705100"/>
            <a:ext cx="228600" cy="228600"/>
          </a:xfrm>
          <a:prstGeom prst="ellipse">
            <a:avLst/>
          </a:prstGeom>
          <a:solidFill>
            <a:srgbClr val="F4F1EC"/>
          </a:solidFill>
          <a:ln w="14288">
            <a:solidFill>
              <a:srgbClr val="8A7A6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00961" y="3238500"/>
            <a:ext cx="2907030" cy="1524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33" b="1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02</a:t>
            </a:r>
            <a:endParaRPr lang="en-US" sz="933" dirty="0"/>
          </a:p>
        </p:txBody>
      </p:sp>
      <p:sp>
        <p:nvSpPr>
          <p:cNvPr id="19" name="Text 15"/>
          <p:cNvSpPr/>
          <p:nvPr/>
        </p:nvSpPr>
        <p:spPr>
          <a:xfrm>
            <a:off x="3400961" y="3467100"/>
            <a:ext cx="2907030" cy="6477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marL="0" indent="0" algn="l">
              <a:lnSpc>
                <a:spcPts val="2551"/>
              </a:lnSpc>
              <a:spcAft>
                <a:spcPts val="1200"/>
              </a:spcAft>
              <a:buNone/>
            </a:pPr>
            <a:r>
              <a:rPr lang="en-US" sz="1733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 Synergy</a:t>
            </a:r>
            <a:endParaRPr lang="en-US" sz="1733" dirty="0"/>
          </a:p>
        </p:txBody>
      </p:sp>
      <p:sp>
        <p:nvSpPr>
          <p:cNvPr id="20" name="Text 16"/>
          <p:cNvSpPr/>
          <p:nvPr/>
        </p:nvSpPr>
        <p:spPr>
          <a:xfrm>
            <a:off x="3400961" y="4267200"/>
            <a:ext cx="2907030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맞춤형 아로마 &amp;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코스메틱 큐레이션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22801" y="2705100"/>
            <a:ext cx="228600" cy="228600"/>
          </a:xfrm>
          <a:prstGeom prst="ellipse">
            <a:avLst/>
          </a:prstGeom>
          <a:solidFill>
            <a:srgbClr val="F4F1EC"/>
          </a:solidFill>
          <a:ln w="14288">
            <a:solidFill>
              <a:srgbClr val="8A7A6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31361" y="3238500"/>
            <a:ext cx="2907030" cy="1524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33" b="1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03</a:t>
            </a:r>
            <a:endParaRPr lang="en-US" sz="933" dirty="0"/>
          </a:p>
        </p:txBody>
      </p:sp>
      <p:sp>
        <p:nvSpPr>
          <p:cNvPr id="23" name="Text 19"/>
          <p:cNvSpPr/>
          <p:nvPr/>
        </p:nvSpPr>
        <p:spPr>
          <a:xfrm>
            <a:off x="6131361" y="3467100"/>
            <a:ext cx="2907030" cy="647700"/>
          </a:xfrm>
          <a:prstGeom prst="rect">
            <a:avLst/>
          </a:prstGeom>
          <a:ln/>
        </p:spPr>
        <p:txBody>
          <a:bodyPr wrap="none" lIns="91440" tIns="0" rIns="91440" bIns="0" rtlCol="0" anchor="t"/>
          <a:lstStyle/>
          <a:p>
            <a:pPr marL="0" indent="0" algn="l">
              <a:lnSpc>
                <a:spcPts val="2551"/>
              </a:lnSpc>
              <a:spcAft>
                <a:spcPts val="1200"/>
              </a:spcAft>
              <a:buNone/>
            </a:pPr>
            <a:r>
              <a:rPr lang="en-US" sz="1733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Restoration</a:t>
            </a:r>
            <a:endParaRPr lang="en-US" sz="1733" dirty="0"/>
          </a:p>
        </p:txBody>
      </p:sp>
      <p:sp>
        <p:nvSpPr>
          <p:cNvPr id="24" name="Text 20"/>
          <p:cNvSpPr/>
          <p:nvPr/>
        </p:nvSpPr>
        <p:spPr>
          <a:xfrm>
            <a:off x="6131361" y="4267200"/>
            <a:ext cx="2907030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페이스 &amp; 바디 웰니스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테라피 (깊은 휴식)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953203" y="2705100"/>
            <a:ext cx="228600" cy="228600"/>
          </a:xfrm>
          <a:prstGeom prst="ellipse">
            <a:avLst/>
          </a:prstGeom>
          <a:solidFill>
            <a:srgbClr val="F4F1EC"/>
          </a:solidFill>
          <a:ln w="14288">
            <a:solidFill>
              <a:srgbClr val="8A7A6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861763" y="3238500"/>
            <a:ext cx="2907030" cy="1524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33" b="1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04</a:t>
            </a:r>
            <a:endParaRPr lang="en-US" sz="933" dirty="0"/>
          </a:p>
        </p:txBody>
      </p:sp>
      <p:sp>
        <p:nvSpPr>
          <p:cNvPr id="27" name="Text 23"/>
          <p:cNvSpPr/>
          <p:nvPr/>
        </p:nvSpPr>
        <p:spPr>
          <a:xfrm>
            <a:off x="8861763" y="3467100"/>
            <a:ext cx="2907030" cy="647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551"/>
              </a:lnSpc>
              <a:spcAft>
                <a:spcPts val="1200"/>
              </a:spcAft>
              <a:buNone/>
            </a:pPr>
            <a:r>
              <a:rPr lang="en-US" sz="1733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Sustainable Life</a:t>
            </a:r>
            <a:endParaRPr lang="en-US" sz="1733" dirty="0"/>
          </a:p>
        </p:txBody>
      </p:sp>
      <p:sp>
        <p:nvSpPr>
          <p:cNvPr id="28" name="Text 24"/>
          <p:cNvSpPr/>
          <p:nvPr/>
        </p:nvSpPr>
        <p:spPr>
          <a:xfrm>
            <a:off x="8861763" y="4267200"/>
            <a:ext cx="2907030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유지관리 가이드 및</a:t>
            </a:r>
            <a:endParaRPr lang="en-US" sz="12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일상으로의 확장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334500" y="4000500"/>
            <a:ext cx="3810000" cy="3810000"/>
          </a:xfrm>
          <a:prstGeom prst="ellipse">
            <a:avLst/>
          </a:prstGeom>
          <a:ln w="7144">
            <a:solidFill>
              <a:srgbClr val="DEDA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2000" y="0"/>
            <a:ext cx="9525" cy="6858000"/>
          </a:xfrm>
          <a:prstGeom prst="rect">
            <a:avLst/>
          </a:prstGeom>
          <a:solidFill>
            <a:srgbClr val="DEDAD4"/>
          </a:solidFill>
          <a:ln/>
        </p:spPr>
      </p:sp>
      <p:sp>
        <p:nvSpPr>
          <p:cNvPr id="6" name="Text 3"/>
          <p:cNvSpPr/>
          <p:nvPr/>
        </p:nvSpPr>
        <p:spPr>
          <a:xfrm>
            <a:off x="1242060" y="1333500"/>
            <a:ext cx="6050280" cy="1905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42060" y="1676400"/>
            <a:ext cx="6050280" cy="7239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570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Inner Resonance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242060" y="2476500"/>
            <a:ext cx="6050280" cy="5334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4200"/>
              </a:lnSpc>
              <a:spcAft>
                <a:spcPts val="2400"/>
              </a:spcAft>
              <a:buNone/>
            </a:pPr>
            <a:r>
              <a:rPr lang="en-US" sz="32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내면의 울림, 그 시작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1333500" y="3314700"/>
            <a:ext cx="762000" cy="38100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10" name="Text 7"/>
          <p:cNvSpPr/>
          <p:nvPr/>
        </p:nvSpPr>
        <p:spPr>
          <a:xfrm>
            <a:off x="1242060" y="3810000"/>
            <a:ext cx="6050280" cy="7239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851"/>
              </a:lnSpc>
              <a:spcAft>
                <a:spcPts val="2100"/>
              </a:spcAft>
              <a:buNone/>
            </a:pPr>
            <a:r>
              <a:rPr lang="en-US" sz="1600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나도 몰랐던 내 마음의 결을 따라가며 스스로를 이해하는 첫 단추를 끼웁니다.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42060" y="4800600"/>
            <a:ext cx="6050280" cy="7239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851"/>
              </a:lnSpc>
              <a:buNone/>
            </a:pPr>
            <a:r>
              <a:rPr lang="en-US" sz="16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향기가 안내하는 무의식의 정원으로</a:t>
            </a:r>
            <a:endParaRPr lang="en-US" sz="1600" dirty="0"/>
          </a:p>
          <a:p>
            <a:pPr marL="0" indent="0" algn="l">
              <a:lnSpc>
                <a:spcPts val="2851"/>
              </a:lnSpc>
              <a:buNone/>
            </a:pPr>
            <a:r>
              <a:rPr lang="en-US" sz="16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당신을 초대합니다.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239000" y="1352549"/>
            <a:ext cx="4191000" cy="1504951"/>
          </a:xfrm>
          <a:prstGeom prst="roundRect">
            <a:avLst>
              <a:gd name="adj" fmla="val 8204"/>
            </a:avLst>
          </a:prstGeom>
          <a:solidFill>
            <a:srgbClr val="FAF9F6"/>
          </a:solidFill>
          <a:ln w="7144">
            <a:solidFill>
              <a:srgbClr val="E8E4DF"/>
            </a:solidFill>
            <a:prstDash val="solid"/>
          </a:ln>
          <a:effectLst>
            <a:outerShdw blurRad="214313" dist="85725" dir="5400000" algn="bl" rotWithShape="0">
              <a:srgbClr val="3D3530">
                <a:alpha val="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248525" y="1362075"/>
            <a:ext cx="4171951" cy="38100"/>
          </a:xfrm>
          <a:prstGeom prst="roundRect">
            <a:avLst>
              <a:gd name="adj" fmla="val 400000"/>
            </a:avLst>
          </a:prstGeom>
          <a:solidFill>
            <a:srgbClr val="8A7A6A"/>
          </a:solidFill>
          <a:ln/>
        </p:spPr>
      </p:sp>
      <p:sp>
        <p:nvSpPr>
          <p:cNvPr id="14" name="Shape 11"/>
          <p:cNvSpPr/>
          <p:nvPr/>
        </p:nvSpPr>
        <p:spPr>
          <a:xfrm>
            <a:off x="7553325" y="1666875"/>
            <a:ext cx="457200" cy="457200"/>
          </a:xfrm>
          <a:prstGeom prst="ellipse">
            <a:avLst/>
          </a:prstGeom>
          <a:solidFill>
            <a:srgbClr val="E8E4D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809751"/>
            <a:ext cx="171451" cy="1714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09585" y="1666875"/>
            <a:ext cx="3388996" cy="876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향기로 여는 대화</a:t>
            </a:r>
            <a:br/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내면의 감정과 에너지를 탐색하는 감각적 리추얼의 시작입니다.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239000" y="3086100"/>
            <a:ext cx="4191000" cy="1504951"/>
          </a:xfrm>
          <a:prstGeom prst="roundRect">
            <a:avLst>
              <a:gd name="adj" fmla="val 8204"/>
            </a:avLst>
          </a:prstGeom>
          <a:solidFill>
            <a:srgbClr val="FAF9F6"/>
          </a:solidFill>
          <a:ln w="7144">
            <a:solidFill>
              <a:srgbClr val="E8E4DF"/>
            </a:solidFill>
            <a:prstDash val="solid"/>
          </a:ln>
          <a:effectLst>
            <a:outerShdw blurRad="214313" dist="85725" dir="5400000" algn="bl" rotWithShape="0">
              <a:srgbClr val="3D3530">
                <a:alpha val="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48525" y="3095625"/>
            <a:ext cx="4171951" cy="38100"/>
          </a:xfrm>
          <a:prstGeom prst="roundRect">
            <a:avLst>
              <a:gd name="adj" fmla="val 400000"/>
            </a:avLst>
          </a:prstGeom>
          <a:solidFill>
            <a:srgbClr val="3D3530"/>
          </a:solidFill>
          <a:ln/>
        </p:spPr>
      </p:sp>
      <p:sp>
        <p:nvSpPr>
          <p:cNvPr id="19" name="Shape 15"/>
          <p:cNvSpPr/>
          <p:nvPr/>
        </p:nvSpPr>
        <p:spPr>
          <a:xfrm>
            <a:off x="7553325" y="3400425"/>
            <a:ext cx="457200" cy="457200"/>
          </a:xfrm>
          <a:prstGeom prst="ellipse">
            <a:avLst/>
          </a:prstGeom>
          <a:solidFill>
            <a:srgbClr val="E8E4D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388" y="3543300"/>
            <a:ext cx="219075" cy="17145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09585" y="3400425"/>
            <a:ext cx="3388996" cy="876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마인드 밸런스 체크</a:t>
            </a:r>
            <a:br/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현재의 심리적 상태를 부드럽게 돌아보며 균형을 찾아가는 시간.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239000" y="5010151"/>
            <a:ext cx="4191000" cy="495300"/>
          </a:xfrm>
          <a:prstGeom prst="roundRect">
            <a:avLst>
              <a:gd name="adj" fmla="val 30769"/>
            </a:avLst>
          </a:prstGeom>
          <a:solidFill>
            <a:srgbClr val="3D353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700" y="5181600"/>
            <a:ext cx="171451" cy="1524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00009" y="5143500"/>
            <a:ext cx="3891916" cy="2286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4F1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당신의 마음은 어떤 향기인가요?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31875" y="6315075"/>
            <a:ext cx="287656" cy="16192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A39B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/>
          <p:nvPr/>
        </p:nvSpPr>
        <p:spPr>
          <a:xfrm>
            <a:off x="11452860" y="6315075"/>
            <a:ext cx="266700" cy="16192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A39B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33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5" name="Text 3"/>
          <p:cNvSpPr/>
          <p:nvPr/>
        </p:nvSpPr>
        <p:spPr>
          <a:xfrm>
            <a:off x="861060" y="571500"/>
            <a:ext cx="6259830" cy="1905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1060" y="914400"/>
            <a:ext cx="6259830" cy="6858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5400"/>
              </a:lnSpc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 Synergy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61060" y="1676400"/>
            <a:ext cx="6259830" cy="514351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4051"/>
              </a:lnSpc>
              <a:spcAft>
                <a:spcPts val="2251"/>
              </a:spcAft>
              <a:buNone/>
            </a:pPr>
            <a:r>
              <a:rPr lang="en-US" sz="3067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당신을 위한 맞춤형 시너지</a:t>
            </a:r>
            <a:endParaRPr lang="en-US" sz="3067" dirty="0"/>
          </a:p>
        </p:txBody>
      </p:sp>
      <p:sp>
        <p:nvSpPr>
          <p:cNvPr id="8" name="Text 6"/>
          <p:cNvSpPr/>
          <p:nvPr/>
        </p:nvSpPr>
        <p:spPr>
          <a:xfrm>
            <a:off x="861060" y="2857500"/>
            <a:ext cx="6259830" cy="914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spcAft>
                <a:spcPts val="2251"/>
              </a:spcAft>
              <a:buNone/>
            </a:pPr>
            <a:r>
              <a:rPr lang="en-US" sz="1467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단계에서 정밀하게 분석된 데이터를 바탕으로,</a:t>
            </a:r>
            <a:endParaRPr lang="en-US" sz="1467" dirty="0"/>
          </a:p>
          <a:p>
            <a:pPr marL="0" indent="0" algn="l">
              <a:lnSpc>
                <a:spcPts val="2400"/>
              </a:lnSpc>
              <a:spcAft>
                <a:spcPts val="2251"/>
              </a:spcAft>
              <a:buNone/>
            </a:pPr>
            <a:r>
              <a:rPr lang="en-US" sz="1467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오직 당신의 에너지와 피부 타입에 최적화된</a:t>
            </a:r>
            <a:endParaRPr lang="en-US" sz="1467" dirty="0"/>
          </a:p>
          <a:p>
            <a:pPr marL="0" indent="0" algn="l">
              <a:lnSpc>
                <a:spcPts val="2400"/>
              </a:lnSpc>
              <a:spcAft>
                <a:spcPts val="2251"/>
              </a:spcAft>
              <a:buNone/>
            </a:pPr>
            <a:r>
              <a:rPr lang="en-US" sz="1467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퍼스널 웰니스 레시피를 제안합니다.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952500" y="4057651"/>
            <a:ext cx="5524500" cy="2667000"/>
          </a:xfrm>
          <a:prstGeom prst="roundRect">
            <a:avLst>
              <a:gd name="adj" fmla="val 3265"/>
            </a:avLst>
          </a:prstGeom>
          <a:ln/>
          <a:effectLst>
            <a:outerShdw blurRad="285750" dist="71438" dir="5400000" algn="bl" rotWithShape="0">
              <a:srgbClr val="3D3530">
                <a:alpha val="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057651"/>
            <a:ext cx="5524500" cy="2667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048500" y="1390651"/>
            <a:ext cx="4381500" cy="1295400"/>
          </a:xfrm>
          <a:prstGeom prst="roundRect">
            <a:avLst>
              <a:gd name="adj" fmla="val 11073"/>
            </a:avLst>
          </a:prstGeom>
          <a:solidFill>
            <a:srgbClr val="FAF9F6"/>
          </a:solidFill>
          <a:ln w="7144">
            <a:solidFill>
              <a:srgbClr val="E8E4D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025" y="1590675"/>
            <a:ext cx="38100" cy="89535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324725" y="162877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8E3D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6651" y="1771651"/>
            <a:ext cx="133349" cy="1714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80985" y="1628775"/>
            <a:ext cx="3682366" cy="8191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spcAft>
                <a:spcPts val="451"/>
              </a:spcAft>
              <a:buNone/>
            </a:pPr>
            <a:r>
              <a:rPr lang="en-US" sz="1467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커스텀 아로마 블렌딩</a:t>
            </a:r>
            <a:br/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에너지 균형에 즉각적인 도움을 주는 유일한 향기 솔루션.</a:t>
            </a:r>
            <a:endParaRPr lang="en-US" sz="1467" dirty="0"/>
          </a:p>
        </p:txBody>
      </p:sp>
      <p:sp>
        <p:nvSpPr>
          <p:cNvPr id="16" name="Shape 11"/>
          <p:cNvSpPr/>
          <p:nvPr/>
        </p:nvSpPr>
        <p:spPr>
          <a:xfrm>
            <a:off x="7048500" y="2914651"/>
            <a:ext cx="4381500" cy="1295400"/>
          </a:xfrm>
          <a:prstGeom prst="roundRect">
            <a:avLst>
              <a:gd name="adj" fmla="val 11073"/>
            </a:avLst>
          </a:prstGeom>
          <a:solidFill>
            <a:srgbClr val="FAF9F6"/>
          </a:solidFill>
          <a:ln w="7144">
            <a:solidFill>
              <a:srgbClr val="E8E4D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8025" y="3114675"/>
            <a:ext cx="38100" cy="89535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324725" y="315277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8E3DB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8075" y="3295651"/>
            <a:ext cx="190500" cy="1714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880985" y="3152775"/>
            <a:ext cx="3682366" cy="8191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spcAft>
                <a:spcPts val="451"/>
              </a:spcAft>
              <a:buNone/>
            </a:pPr>
            <a:r>
              <a:rPr lang="en-US" sz="1467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맞춤형 웰니스 코스메틱</a:t>
            </a:r>
            <a:br/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피부 고민과 오감을 동시에 만족시키는 특별한 케어 경험을 제공합니다.</a:t>
            </a:r>
            <a:endParaRPr lang="en-US" sz="1467" dirty="0"/>
          </a:p>
        </p:txBody>
      </p:sp>
      <p:sp>
        <p:nvSpPr>
          <p:cNvPr id="21" name="Shape 14"/>
          <p:cNvSpPr/>
          <p:nvPr/>
        </p:nvSpPr>
        <p:spPr>
          <a:xfrm>
            <a:off x="7143751" y="4629151"/>
            <a:ext cx="3171825" cy="495300"/>
          </a:xfrm>
          <a:prstGeom prst="roundRect">
            <a:avLst>
              <a:gd name="adj" fmla="val 30769"/>
            </a:avLst>
          </a:prstGeom>
          <a:solidFill>
            <a:srgbClr val="3D3530"/>
          </a:solidFill>
          <a:ln/>
          <a:effectLst>
            <a:outerShdw blurRad="107156" dist="28575" dir="5400000" algn="bl" rotWithShape="0">
              <a:srgbClr val="3D3530">
                <a:alpha val="20000"/>
              </a:srgbClr>
            </a:outerShdw>
          </a:effectLst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0449" y="4791075"/>
            <a:ext cx="190500" cy="17145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23811" y="4762500"/>
            <a:ext cx="2749867" cy="2286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4F1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세상에 하나뿐인 웰니스 레시피 보기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7052311" y="5276851"/>
            <a:ext cx="4897756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Bef>
                <a:spcPts val="1200"/>
              </a:spcBef>
              <a:buNone/>
            </a:pPr>
            <a:r>
              <a:rPr lang="en-US" sz="933" i="1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분석 데이터에 기반한 1:1 맞춤 제작 솔루션입니다.</a:t>
            </a:r>
            <a:endParaRPr lang="en-US" sz="9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Shape 1"/>
          <p:cNvSpPr/>
          <p:nvPr/>
        </p:nvSpPr>
        <p:spPr>
          <a:xfrm>
            <a:off x="6286500" y="-1071562"/>
            <a:ext cx="4762500" cy="4762500"/>
          </a:xfrm>
          <a:prstGeom prst="ellipse">
            <a:avLst/>
          </a:prstGeom>
          <a:solidFill>
            <a:srgbClr val="EBE8E2"/>
          </a:solidFill>
          <a:ln/>
        </p:spPr>
      </p:sp>
      <p:sp>
        <p:nvSpPr>
          <p:cNvPr id="4" name="Text 2"/>
          <p:cNvSpPr/>
          <p:nvPr/>
        </p:nvSpPr>
        <p:spPr>
          <a:xfrm>
            <a:off x="11443335" y="6315075"/>
            <a:ext cx="277177" cy="16192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A39B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33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A7A6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771525"/>
            <a:ext cx="4552949" cy="53149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811" y="5095875"/>
            <a:ext cx="1869757" cy="619125"/>
          </a:xfrm>
          <a:prstGeom prst="roundRect">
            <a:avLst>
              <a:gd name="adj" fmla="val 3030"/>
            </a:avLst>
          </a:prstGeom>
          <a:solidFill>
            <a:srgbClr val="3D3530"/>
          </a:solidFill>
          <a:ln/>
          <a:effectLst>
            <a:outerShdw blurRad="214313" dist="101028" dir="2700000" algn="bl" rotWithShape="0">
              <a:srgbClr val="000000">
                <a:alpha val="10000"/>
              </a:srgbClr>
            </a:outerShdw>
          </a:effectLst>
        </p:spPr>
        <p:txBody>
          <a:bodyPr wrap="none" lIns="91440" tIns="0" rIns="91440" bIns="0" rtlCol="0" anchor="ctr"/>
          <a:lstStyle/>
          <a:p>
            <a:pPr marL="0" indent="0" algn="l">
              <a:buNone/>
            </a:pPr>
            <a:r>
              <a:rPr lang="en-US" sz="1733" dirty="0">
                <a:solidFill>
                  <a:srgbClr val="F4F1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Calm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5814060" y="752475"/>
            <a:ext cx="6259830" cy="1905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14060" y="1057275"/>
            <a:ext cx="6259830" cy="6858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5400"/>
              </a:lnSpc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Restoration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814060" y="1819275"/>
            <a:ext cx="6259830" cy="476249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751"/>
              </a:lnSpc>
              <a:spcAft>
                <a:spcPts val="2251"/>
              </a:spcAft>
              <a:buNone/>
            </a:pPr>
            <a:r>
              <a:rPr lang="en-US" sz="28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고요함 속에서 만나는 진정한 회복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814060" y="2581275"/>
            <a:ext cx="6259830" cy="6096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spcAft>
                <a:spcPts val="3000"/>
              </a:spcAft>
              <a:buNone/>
            </a:pPr>
            <a:r>
              <a:rPr lang="en-US" sz="1333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소음 없는 공간, 향기로운 공기 속에서 온전히 나 자신에게</a:t>
            </a:r>
            <a:endParaRPr lang="en-US" sz="1333" dirty="0"/>
          </a:p>
          <a:p>
            <a:pPr marL="0" indent="0" algn="l">
              <a:lnSpc>
                <a:spcPts val="2400"/>
              </a:lnSpc>
              <a:spcAft>
                <a:spcPts val="3000"/>
              </a:spcAft>
              <a:buNone/>
            </a:pPr>
            <a:r>
              <a:rPr lang="en-US" sz="1333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집중하며 깊은 이완의 시간을 가집니다.</a:t>
            </a:r>
            <a:endParaRPr lang="en-US" sz="1333" dirty="0"/>
          </a:p>
        </p:txBody>
      </p:sp>
      <p:sp>
        <p:nvSpPr>
          <p:cNvPr id="12" name="Shape 9"/>
          <p:cNvSpPr/>
          <p:nvPr/>
        </p:nvSpPr>
        <p:spPr>
          <a:xfrm>
            <a:off x="5905500" y="3695700"/>
            <a:ext cx="57151" cy="57151"/>
          </a:xfrm>
          <a:prstGeom prst="ellipse">
            <a:avLst/>
          </a:prstGeom>
          <a:solidFill>
            <a:srgbClr val="8A7A6A"/>
          </a:solidFill>
          <a:ln/>
        </p:spPr>
      </p:sp>
      <p:sp>
        <p:nvSpPr>
          <p:cNvPr id="13" name="Text 10"/>
          <p:cNvSpPr/>
          <p:nvPr/>
        </p:nvSpPr>
        <p:spPr>
          <a:xfrm>
            <a:off x="6023611" y="3571875"/>
            <a:ext cx="6029326" cy="5524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251"/>
              </a:lnSpc>
              <a:buNone/>
            </a:pPr>
            <a:r>
              <a:rPr lang="en-US" sz="1333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몸과 마음의 긴장을 내려놓는 테라피</a:t>
            </a:r>
            <a:br/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깊은 이완을 통한 진정한 쉼을 제안합니다.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5905500" y="4438649"/>
            <a:ext cx="57151" cy="57151"/>
          </a:xfrm>
          <a:prstGeom prst="ellipse">
            <a:avLst/>
          </a:prstGeom>
          <a:solidFill>
            <a:srgbClr val="8A7A6A"/>
          </a:solidFill>
          <a:ln/>
        </p:spPr>
      </p:sp>
      <p:sp>
        <p:nvSpPr>
          <p:cNvPr id="15" name="Text 12"/>
          <p:cNvSpPr/>
          <p:nvPr/>
        </p:nvSpPr>
        <p:spPr>
          <a:xfrm>
            <a:off x="6023611" y="4314825"/>
            <a:ext cx="6029326" cy="5524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251"/>
              </a:lnSpc>
              <a:buNone/>
            </a:pPr>
            <a:r>
              <a:rPr lang="en-US" sz="1333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페이스 &amp; 바디 릴렉세이션</a:t>
            </a:r>
            <a:br/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섬세한 터치로 전하는 고요한 회복의 감각을 느껴보세요.</a:t>
            </a:r>
            <a:endParaRPr lang="en-US" sz="1333" dirty="0"/>
          </a:p>
        </p:txBody>
      </p:sp>
      <p:sp>
        <p:nvSpPr>
          <p:cNvPr id="16" name="Text 13"/>
          <p:cNvSpPr/>
          <p:nvPr/>
        </p:nvSpPr>
        <p:spPr>
          <a:xfrm>
            <a:off x="5814060" y="5295900"/>
            <a:ext cx="6259830" cy="80962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3530"/>
                </a:solidFill>
                <a:highlight>
                  <a:srgbClr val="FAF9F6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모든 긴장을 내려놓는 시간, 세포 하나하나가 깨어나는 고요한 휴식 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5295900"/>
            <a:ext cx="5524500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47649"/>
            <a:ext cx="12192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714375" y="3000375"/>
            <a:ext cx="3810000" cy="3810000"/>
          </a:xfrm>
          <a:prstGeom prst="ellipse">
            <a:avLst/>
          </a:prstGeom>
          <a:solidFill>
            <a:srgbClr val="EBE8E2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6" name="Text 3"/>
          <p:cNvSpPr/>
          <p:nvPr/>
        </p:nvSpPr>
        <p:spPr>
          <a:xfrm>
            <a:off x="861060" y="666751"/>
            <a:ext cx="5840730" cy="1905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1060" y="1047751"/>
            <a:ext cx="5840730" cy="7239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5700"/>
              </a:lnSpc>
              <a:spcAft>
                <a:spcPts val="900"/>
              </a:spcAft>
              <a:buNone/>
            </a:pPr>
            <a:r>
              <a:rPr lang="en-US" sz="48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Wellness as Lifestyle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61060" y="1885949"/>
            <a:ext cx="5840730" cy="4953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900"/>
              </a:lnSpc>
              <a:spcAft>
                <a:spcPts val="3000"/>
              </a:spcAft>
              <a:buNone/>
            </a:pPr>
            <a:r>
              <a:rPr lang="en-US" sz="28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일상이 되는 웰니스 경험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952500" y="2762251"/>
            <a:ext cx="952500" cy="19051"/>
          </a:xfrm>
          <a:prstGeom prst="rect">
            <a:avLst/>
          </a:prstGeom>
          <a:solidFill>
            <a:srgbClr val="DEDAD4"/>
          </a:solidFill>
          <a:ln/>
        </p:spPr>
      </p:sp>
      <p:sp>
        <p:nvSpPr>
          <p:cNvPr id="10" name="Text 7"/>
          <p:cNvSpPr/>
          <p:nvPr/>
        </p:nvSpPr>
        <p:spPr>
          <a:xfrm>
            <a:off x="861060" y="3162300"/>
            <a:ext cx="5840730" cy="9715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551"/>
              </a:lnSpc>
              <a:buNone/>
            </a:pPr>
            <a:r>
              <a:rPr lang="en-US" sz="1467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훼이맵의 여정은 프로그램이 끝난 후에도 멈추지 않습니다.</a:t>
            </a:r>
            <a:endParaRPr lang="en-US" sz="1467" dirty="0"/>
          </a:p>
          <a:p>
            <a:pPr marL="0" indent="0" algn="l">
              <a:lnSpc>
                <a:spcPts val="2551"/>
              </a:lnSpc>
              <a:buNone/>
            </a:pPr>
            <a:r>
              <a:rPr lang="en-US" sz="1467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당신의 매일이 건강한 균형으로 채워질 수 있도록,</a:t>
            </a:r>
            <a:endParaRPr lang="en-US" sz="1467" dirty="0"/>
          </a:p>
          <a:p>
            <a:pPr marL="0" indent="0" algn="l">
              <a:lnSpc>
                <a:spcPts val="2551"/>
              </a:lnSpc>
              <a:buNone/>
            </a:pPr>
            <a:r>
              <a:rPr lang="en-US" sz="1467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 가능한 셀프 케어 시스템을 제안합니다.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952500" y="5900737"/>
            <a:ext cx="381000" cy="9525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12" name="Text 9"/>
          <p:cNvSpPr/>
          <p:nvPr/>
        </p:nvSpPr>
        <p:spPr>
          <a:xfrm>
            <a:off x="1356360" y="5810251"/>
            <a:ext cx="1125856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SINCE 2026</a:t>
            </a:r>
            <a:endParaRPr lang="en-US" sz="933" dirty="0"/>
          </a:p>
        </p:txBody>
      </p:sp>
      <p:sp>
        <p:nvSpPr>
          <p:cNvPr id="13" name="Shape 10"/>
          <p:cNvSpPr/>
          <p:nvPr/>
        </p:nvSpPr>
        <p:spPr>
          <a:xfrm>
            <a:off x="6477000" y="847725"/>
            <a:ext cx="4953000" cy="1066800"/>
          </a:xfrm>
          <a:prstGeom prst="roundRect">
            <a:avLst>
              <a:gd name="adj" fmla="val 16327"/>
            </a:avLst>
          </a:prstGeom>
          <a:solidFill>
            <a:srgbClr val="FAF9F6"/>
          </a:solidFill>
          <a:ln w="7144">
            <a:solidFill>
              <a:srgbClr val="E8E4DF"/>
            </a:solidFill>
            <a:prstDash val="solid"/>
          </a:ln>
          <a:effectLst>
            <a:outerShdw blurRad="142875" dist="28575" dir="5400000" algn="bl" rotWithShape="0">
              <a:srgbClr val="3D3530">
                <a:alpha val="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91325" y="1133475"/>
            <a:ext cx="495300" cy="495300"/>
          </a:xfrm>
          <a:prstGeom prst="ellipse">
            <a:avLst/>
          </a:prstGeom>
          <a:solidFill>
            <a:srgbClr val="F4F1EC"/>
          </a:solidFill>
          <a:ln w="7144">
            <a:solidFill>
              <a:srgbClr val="E8E4D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1" y="1295400"/>
            <a:ext cx="171451" cy="1714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23785" y="1085851"/>
            <a:ext cx="4143376" cy="590549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 가능한 웰니스</a:t>
            </a:r>
            <a:br/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 종료 후에도 이어지는 맞춤형 셀프 케어 가이드.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77000" y="2105025"/>
            <a:ext cx="4953000" cy="1314451"/>
          </a:xfrm>
          <a:prstGeom prst="roundRect">
            <a:avLst>
              <a:gd name="adj" fmla="val 10754"/>
            </a:avLst>
          </a:prstGeom>
          <a:solidFill>
            <a:srgbClr val="FAF9F6"/>
          </a:solidFill>
          <a:ln w="7144">
            <a:solidFill>
              <a:srgbClr val="E8E4DF"/>
            </a:solidFill>
            <a:prstDash val="solid"/>
          </a:ln>
          <a:effectLst>
            <a:outerShdw blurRad="142875" dist="28575" dir="5400000" algn="bl" rotWithShape="0">
              <a:srgbClr val="3D3530">
                <a:alpha val="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791325" y="2514600"/>
            <a:ext cx="495300" cy="495300"/>
          </a:xfrm>
          <a:prstGeom prst="ellipse">
            <a:avLst/>
          </a:prstGeom>
          <a:solidFill>
            <a:srgbClr val="F4F1EC"/>
          </a:solidFill>
          <a:ln w="7144">
            <a:solidFill>
              <a:srgbClr val="E8E4D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1" y="2676525"/>
            <a:ext cx="171451" cy="1714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23785" y="2343151"/>
            <a:ext cx="4143376" cy="8382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일상의 확장</a:t>
            </a:r>
            <a:br/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건강한 마인드셋을 일상으로 가져가는 훼이맵만의 노하우.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77000" y="3624264"/>
            <a:ext cx="4953000" cy="1066800"/>
          </a:xfrm>
          <a:prstGeom prst="roundRect">
            <a:avLst>
              <a:gd name="adj" fmla="val 16327"/>
            </a:avLst>
          </a:prstGeom>
          <a:solidFill>
            <a:srgbClr val="FAF9F6"/>
          </a:solidFill>
          <a:ln w="7144">
            <a:solidFill>
              <a:srgbClr val="E8E4DF"/>
            </a:solidFill>
            <a:prstDash val="solid"/>
          </a:ln>
          <a:effectLst>
            <a:outerShdw blurRad="142875" dist="28575" dir="5400000" algn="bl" rotWithShape="0">
              <a:srgbClr val="3D3530">
                <a:alpha val="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91325" y="3895725"/>
            <a:ext cx="495300" cy="495300"/>
          </a:xfrm>
          <a:prstGeom prst="ellipse">
            <a:avLst/>
          </a:prstGeom>
          <a:solidFill>
            <a:srgbClr val="F4F1EC"/>
          </a:solidFill>
          <a:ln w="7144">
            <a:solidFill>
              <a:srgbClr val="E8E4D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9437" y="4057651"/>
            <a:ext cx="219075" cy="17145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23785" y="3848100"/>
            <a:ext cx="4143376" cy="590549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Membership</a:t>
            </a:r>
            <a:br/>
            <a:r>
              <a:rPr lang="en-US" sz="1200" dirty="0">
                <a:solidFill>
                  <a:srgbClr val="6B61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웰니스 문화 확산을 위한 기업 파트너십 솔루션.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77000" y="5057775"/>
            <a:ext cx="4953000" cy="952500"/>
          </a:xfrm>
          <a:prstGeom prst="roundRect">
            <a:avLst>
              <a:gd name="adj" fmla="val 20480"/>
            </a:avLst>
          </a:prstGeom>
          <a:solidFill>
            <a:srgbClr val="3D3530"/>
          </a:solidFill>
          <a:ln/>
          <a:effectLst>
            <a:outerShdw blurRad="214313" dist="71438" dir="5400000" algn="bl" rotWithShape="0">
              <a:srgbClr val="3D353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705600" y="5324475"/>
            <a:ext cx="419100" cy="419100"/>
          </a:xfrm>
          <a:prstGeom prst="roundRect">
            <a:avLst>
              <a:gd name="adj" fmla="val 19835"/>
            </a:avLst>
          </a:prstGeom>
          <a:solidFill>
            <a:srgbClr val="F4F1E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5612" y="5438775"/>
            <a:ext cx="219075" cy="1905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23760" y="5286375"/>
            <a:ext cx="4457700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F4F1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당신의 일상이 웰니스가 되도록, 훼이맵이 끝까지 함께합니다. 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1452860" y="6315075"/>
            <a:ext cx="266700" cy="16192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A39B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3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/>
          <p:nvPr/>
        </p:nvSpPr>
        <p:spPr>
          <a:xfrm>
            <a:off x="11386185" y="6315075"/>
            <a:ext cx="340042" cy="16192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dirty="0">
                <a:solidFill>
                  <a:srgbClr val="A39B9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33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668000" y="381000"/>
            <a:ext cx="1143000" cy="9525"/>
          </a:xfrm>
          <a:prstGeom prst="rect">
            <a:avLst/>
          </a:prstGeom>
          <a:solidFill>
            <a:srgbClr val="DEDAD4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7" name="Text 4"/>
          <p:cNvSpPr/>
          <p:nvPr/>
        </p:nvSpPr>
        <p:spPr>
          <a:xfrm>
            <a:off x="861060" y="762000"/>
            <a:ext cx="11498580" cy="1905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CUSTOMER CARE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1060" y="1066800"/>
            <a:ext cx="11498580" cy="666751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5251"/>
              </a:lnSpc>
              <a:buNone/>
            </a:pPr>
            <a:r>
              <a:rPr lang="en-US" sz="44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Information &amp; Disclaimer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952500" y="1962149"/>
            <a:ext cx="571500" cy="28575"/>
          </a:xfrm>
          <a:prstGeom prst="rect">
            <a:avLst/>
          </a:prstGeom>
          <a:solidFill>
            <a:srgbClr val="8A7A6A"/>
          </a:solidFill>
          <a:ln/>
        </p:spPr>
      </p:sp>
      <p:sp>
        <p:nvSpPr>
          <p:cNvPr id="10" name="Shape 7"/>
          <p:cNvSpPr/>
          <p:nvPr/>
        </p:nvSpPr>
        <p:spPr>
          <a:xfrm>
            <a:off x="952500" y="2600325"/>
            <a:ext cx="4000500" cy="1581151"/>
          </a:xfrm>
          <a:prstGeom prst="roundRect">
            <a:avLst>
              <a:gd name="adj" fmla="val 7432"/>
            </a:avLst>
          </a:prstGeom>
          <a:solidFill>
            <a:srgbClr val="FAF9F6"/>
          </a:solidFill>
          <a:ln w="7144">
            <a:solidFill>
              <a:srgbClr val="E8E4DF"/>
            </a:solidFill>
            <a:prstDash val="solid"/>
          </a:ln>
          <a:effectLst>
            <a:outerShdw blurRad="214313" dist="71438" dir="5400000" algn="bl" rotWithShape="0">
              <a:srgbClr val="3D3530">
                <a:alpha val="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268313" y="2914651"/>
            <a:ext cx="323851" cy="381000"/>
          </a:xfrm>
          <a:prstGeom prst="ellipse">
            <a:avLst/>
          </a:prstGeom>
          <a:solidFill>
            <a:srgbClr val="E8E3D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039" y="3028951"/>
            <a:ext cx="152400" cy="152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53123" y="2976563"/>
            <a:ext cx="3368040" cy="25717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333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010-5270-6833</a:t>
            </a:r>
            <a:endParaRPr lang="en-US" sz="1333" dirty="0"/>
          </a:p>
        </p:txBody>
      </p:sp>
      <p:sp>
        <p:nvSpPr>
          <p:cNvPr id="14" name="Shape 10"/>
          <p:cNvSpPr/>
          <p:nvPr/>
        </p:nvSpPr>
        <p:spPr>
          <a:xfrm>
            <a:off x="1268313" y="3486151"/>
            <a:ext cx="323851" cy="381000"/>
          </a:xfrm>
          <a:prstGeom prst="ellipse">
            <a:avLst/>
          </a:prstGeom>
          <a:solidFill>
            <a:srgbClr val="E8E3D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563" y="3600451"/>
            <a:ext cx="133349" cy="152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53123" y="3548063"/>
            <a:ext cx="3368040" cy="25717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333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@fatemap_wellness</a:t>
            </a:r>
            <a:endParaRPr lang="en-US" sz="1333" dirty="0"/>
          </a:p>
        </p:txBody>
      </p:sp>
      <p:sp>
        <p:nvSpPr>
          <p:cNvPr id="17" name="Shape 12"/>
          <p:cNvSpPr/>
          <p:nvPr/>
        </p:nvSpPr>
        <p:spPr>
          <a:xfrm>
            <a:off x="952500" y="4410075"/>
            <a:ext cx="4000500" cy="1171575"/>
          </a:xfrm>
          <a:prstGeom prst="roundRect">
            <a:avLst>
              <a:gd name="adj" fmla="val 13537"/>
            </a:avLst>
          </a:prstGeom>
          <a:solidFill>
            <a:srgbClr val="3D3530"/>
          </a:solidFill>
          <a:ln/>
        </p:spPr>
      </p:sp>
      <p:sp>
        <p:nvSpPr>
          <p:cNvPr id="18" name="Text 13"/>
          <p:cNvSpPr/>
          <p:nvPr/>
        </p:nvSpPr>
        <p:spPr>
          <a:xfrm>
            <a:off x="1165860" y="4638675"/>
            <a:ext cx="3912870" cy="14287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OFFICIAL CHANNEL</a:t>
            </a:r>
            <a:endParaRPr lang="en-US" sz="933" dirty="0"/>
          </a:p>
        </p:txBody>
      </p:sp>
      <p:sp>
        <p:nvSpPr>
          <p:cNvPr id="19" name="Text 14"/>
          <p:cNvSpPr/>
          <p:nvPr/>
        </p:nvSpPr>
        <p:spPr>
          <a:xfrm>
            <a:off x="1165860" y="4857751"/>
            <a:ext cx="3912870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F4F1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훼이맵과 함께 새로운 시작을 준비하세요.</a:t>
            </a:r>
            <a:endParaRPr lang="en-US" sz="1200" dirty="0"/>
          </a:p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8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프로그램은 웰니스 서비스입니다.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34000" y="2600325"/>
            <a:ext cx="5905500" cy="4476751"/>
          </a:xfrm>
          <a:prstGeom prst="roundRect">
            <a:avLst>
              <a:gd name="adj" fmla="val 927"/>
            </a:avLst>
          </a:prstGeom>
          <a:solidFill>
            <a:srgbClr val="EBE8E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3028951"/>
            <a:ext cx="209551" cy="2095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7409" y="2981325"/>
            <a:ext cx="5484496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D35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 안내 (Legal Notice)</a:t>
            </a:r>
            <a:endParaRPr lang="en-US" sz="16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3609975"/>
            <a:ext cx="76200" cy="1143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623560" y="3781425"/>
            <a:ext cx="5610226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프로그램은 의료 행위(치료, 진단, 처방 등)가 아닙니다.</a:t>
            </a:r>
            <a:endParaRPr lang="en-US" sz="12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4314825"/>
            <a:ext cx="76200" cy="1143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623560" y="4486275"/>
            <a:ext cx="5610226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웰니스 관점에서 제공되는 개인 맞춤형 라이프스타일 케어 서비스입니다.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5286375"/>
            <a:ext cx="76200" cy="1143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623560" y="5457825"/>
            <a:ext cx="5610226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결과 및 체감 효과는 개인의 상태와 환경에 따라 차이가 있을 수 있습니다.</a:t>
            </a:r>
            <a:endParaRPr lang="en-US" sz="12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6257925"/>
            <a:ext cx="76200" cy="1143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623560" y="6429375"/>
            <a:ext cx="5610226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5D544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질병의 예방 및 치료를 목적으로 하는 의학적 효과를 보장하지 않습니다.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974</Words>
  <Application>Microsoft Office PowerPoint</Application>
  <PresentationFormat>와이드스크린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Pretendard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PC2511</cp:lastModifiedBy>
  <cp:revision>2</cp:revision>
  <dcterms:created xsi:type="dcterms:W3CDTF">2026-06-16T14:23:13Z</dcterms:created>
  <dcterms:modified xsi:type="dcterms:W3CDTF">2026-06-16T14:29:02Z</dcterms:modified>
</cp:coreProperties>
</file>